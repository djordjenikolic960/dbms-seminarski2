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roximaNova-bold.fntdata"/><Relationship Id="rId10" Type="http://schemas.openxmlformats.org/officeDocument/2006/relationships/slide" Target="slides/slide5.xml"/><Relationship Id="rId21" Type="http://schemas.openxmlformats.org/officeDocument/2006/relationships/font" Target="fonts/ProximaNova-regular.fntdata"/><Relationship Id="rId13" Type="http://schemas.openxmlformats.org/officeDocument/2006/relationships/slide" Target="slides/slide8.xml"/><Relationship Id="rId24" Type="http://schemas.openxmlformats.org/officeDocument/2006/relationships/font" Target="fonts/ProximaNova-boldItalic.fntdata"/><Relationship Id="rId12" Type="http://schemas.openxmlformats.org/officeDocument/2006/relationships/slide" Target="slides/slide7.xml"/><Relationship Id="rId23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dbf0d5b0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dbf0d5b0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dbf0d5b0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dbf0d5b0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dbf0d5b0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dbf0d5b0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dbf0d5b0c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dbf0d5b0c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dc5fa78bf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dc5fa78bf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dbf0d5b0c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dbf0d5b0c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dc5fa78bf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dc5fa78bf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dc5fa78bf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dc5fa78bf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dc5fa78bf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dc5fa78bf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dc5fa78bf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dc5fa78bf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dc5fa78bf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dc5fa78bf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dc5fa78bf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dc5fa78bf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c5fa78bf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c5fa78bf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cdbf0d5b0c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cdbf0d5b0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52975" y="1188925"/>
            <a:ext cx="75846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Sigurnost Firebase Realtime Database baze podataka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815477" y="3742625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Mentor: Prof. dr Aleksandar Stanimirović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Student: Đorđe Nikolić 1236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Sadržaj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191150" y="1443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/>
              <a:t>Autentifikacija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/>
              <a:t>Sigurnosna pravila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/>
              <a:t>Šifriranje</a:t>
            </a:r>
            <a:endParaRPr sz="2200"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56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Autentifikacija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41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>
                <a:highlight>
                  <a:srgbClr val="F8F9FA"/>
                </a:highlight>
              </a:rPr>
              <a:t>Identifikuje korisnika</a:t>
            </a:r>
            <a:endParaRPr sz="2200">
              <a:highlight>
                <a:srgbClr val="F8F9FA"/>
              </a:highlight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>
                <a:highlight>
                  <a:srgbClr val="F8F9FA"/>
                </a:highlight>
              </a:rPr>
              <a:t>Koristi industrijske standarde (OAuth2 i OpenID Connect)</a:t>
            </a:r>
            <a:endParaRPr sz="2200">
              <a:highlight>
                <a:srgbClr val="F8F9FA"/>
              </a:highlight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>
                <a:highlight>
                  <a:srgbClr val="F8F9FA"/>
                </a:highlight>
              </a:rPr>
              <a:t>Može da se uključiti kao biblioteka (FirebaseUI auth)</a:t>
            </a:r>
            <a:endParaRPr sz="2200">
              <a:highlight>
                <a:srgbClr val="F8F9FA"/>
              </a:highlight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 sz="2200">
                <a:highlight>
                  <a:srgbClr val="F8F9FA"/>
                </a:highlight>
              </a:rPr>
              <a:t> </a:t>
            </a:r>
            <a:r>
              <a:rPr lang="en-GB" sz="2200"/>
              <a:t>Smart Lock</a:t>
            </a:r>
            <a:endParaRPr sz="2200">
              <a:highlight>
                <a:srgbClr val="F8F9FA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Autentifikacija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highlight>
                  <a:srgbClr val="F8F9FA"/>
                </a:highlight>
              </a:rPr>
              <a:t>Načini provere autentičnosti: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E-mail adresa i lozinka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Integracija federalnog dobavljača identiteta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Putem sms poruke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Integracija prilagođenog sistema 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Anonimna autorizacija</a:t>
            </a:r>
            <a:endParaRPr sz="2000">
              <a:highlight>
                <a:srgbClr val="F8F9FA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75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Promenljiva auth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>
                <a:highlight>
                  <a:srgbClr val="F8F9FA"/>
                </a:highlight>
              </a:rPr>
              <a:t>Firebase autentifikacija se integriše sa Firebase bazom podataka u realnom vremenu kako bi omogućila kontrolu pristupa podacima po korisniku koristeći uslove</a:t>
            </a:r>
            <a:endParaRPr sz="2200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50625"/>
            <a:ext cx="8520600" cy="17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Promenljiva auth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GB" sz="2100">
                <a:highlight>
                  <a:srgbClr val="F8F9FA"/>
                </a:highlight>
              </a:rPr>
              <a:t>Unapred definisana promenljiva auth u pravilima ima vrednost null pre nego što se izvrši potvrda identiteta. Jednom kada se korisniku potvrdi identitet pomoću Firebase autentifikacije, sadržaće sledeće atribute:</a:t>
            </a:r>
            <a:endParaRPr sz="2100">
              <a:highlight>
                <a:srgbClr val="F8F9FA"/>
              </a:highlight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>
                <a:highlight>
                  <a:srgbClr val="FFFFFF"/>
                </a:highlight>
              </a:rPr>
              <a:t>Provider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>
                <a:highlight>
                  <a:srgbClr val="F8F9FA"/>
                </a:highlight>
              </a:rPr>
              <a:t>Uid</a:t>
            </a:r>
            <a:endParaRPr sz="1800">
              <a:highlight>
                <a:srgbClr val="F8F9FA"/>
              </a:highlight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>
                <a:highlight>
                  <a:srgbClr val="F8F9FA"/>
                </a:highlight>
              </a:rPr>
              <a:t>Token</a:t>
            </a:r>
            <a:endParaRPr sz="1800">
              <a:highlight>
                <a:srgbClr val="F8F9FA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65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Sigurnosna pravila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Omogućavaju kontrolu pristupa podacima u bazi podataka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Pravila su definisana odvojeno od logike aplikacije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Tri vrste pravila za primenu sigurnosti (read, write, validate)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Primenjuju se atomično</a:t>
            </a:r>
            <a:endParaRPr sz="2000">
              <a:highlight>
                <a:srgbClr val="F8F9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Sigurnosna pravila - struktuiranje 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200" y="1152475"/>
            <a:ext cx="6513599" cy="2009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200" y="3161501"/>
            <a:ext cx="6513599" cy="14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Sigurnosna pravila - </a:t>
            </a:r>
            <a:r>
              <a:rPr lang="en-GB" sz="2500"/>
              <a:t>Wildcard promenljive</a:t>
            </a:r>
            <a:endParaRPr sz="2500"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54225"/>
            <a:ext cx="8520600" cy="3212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16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0"/>
              <a:t>Sigurnosna pravila - Kaskadno propagiranje pravila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17288"/>
            <a:ext cx="8520600" cy="210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Filtriranje sigurnosnih pravila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36375"/>
            <a:ext cx="8520600" cy="244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800"/>
              </a:spcBef>
              <a:spcAft>
                <a:spcPts val="600"/>
              </a:spcAft>
              <a:buSzPts val="990"/>
              <a:buNone/>
            </a:pPr>
            <a:r>
              <a:rPr lang="en-GB" sz="2540">
                <a:solidFill>
                  <a:srgbClr val="000000"/>
                </a:solidFill>
              </a:rPr>
              <a:t>Šifriranje - š</a:t>
            </a:r>
            <a:r>
              <a:rPr lang="en-GB" sz="2540">
                <a:solidFill>
                  <a:srgbClr val="000000"/>
                </a:solidFill>
              </a:rPr>
              <a:t>ifriranje na sloju sistema za skladištenje</a:t>
            </a:r>
            <a:endParaRPr sz="3620"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990"/>
              <a:buNone/>
            </a:pPr>
            <a:r>
              <a:rPr lang="en-GB" sz="2540">
                <a:solidFill>
                  <a:srgbClr val="000000"/>
                </a:solidFill>
              </a:rPr>
              <a:t>Šifriranje - </a:t>
            </a:r>
            <a:r>
              <a:rPr lang="en-GB" sz="2540">
                <a:solidFill>
                  <a:srgbClr val="000000"/>
                </a:solidFill>
              </a:rPr>
              <a:t>Upravljanje ključevima</a:t>
            </a:r>
            <a:endParaRPr sz="254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800"/>
              </a:spcBef>
              <a:spcAft>
                <a:spcPts val="600"/>
              </a:spcAft>
              <a:buClr>
                <a:srgbClr val="000000"/>
              </a:buClr>
              <a:buSzPct val="34601"/>
              <a:buFont typeface="Arial"/>
              <a:buNone/>
            </a:pPr>
            <a:r>
              <a:rPr lang="en-GB" sz="2861">
                <a:solidFill>
                  <a:srgbClr val="000000"/>
                </a:solidFill>
              </a:rPr>
              <a:t>Šifriranje -</a:t>
            </a:r>
            <a:r>
              <a:rPr lang="en-GB" sz="2540">
                <a:solidFill>
                  <a:srgbClr val="000000"/>
                </a:solidFill>
              </a:rPr>
              <a:t> </a:t>
            </a:r>
            <a:r>
              <a:rPr lang="en-GB" sz="2822">
                <a:solidFill>
                  <a:srgbClr val="000000"/>
                </a:solidFill>
              </a:rPr>
              <a:t>šifriranje na strani klijenta</a:t>
            </a:r>
            <a:endParaRPr sz="4022"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 sz="2000">
                <a:highlight>
                  <a:srgbClr val="F8F9FA"/>
                </a:highlight>
              </a:rPr>
              <a:t>Sama enkripcija je dovoljno jednostavna za izvođenje sa postojećim bibliotekama, koristeći simetrični ključ - AES</a:t>
            </a:r>
            <a:endParaRPr sz="2000">
              <a:highlight>
                <a:srgbClr val="F8F9FA"/>
              </a:highlight>
            </a:endParaRPr>
          </a:p>
          <a:p>
            <a:pPr indent="-34607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 sz="2000">
                <a:highlight>
                  <a:srgbClr val="F8F9FA"/>
                </a:highlight>
              </a:rPr>
              <a:t>Problem je gde čuvati ovaj ključ</a:t>
            </a:r>
            <a:endParaRPr sz="2000">
              <a:highlight>
                <a:srgbClr val="F8F9FA"/>
              </a:highlight>
            </a:endParaRPr>
          </a:p>
          <a:p>
            <a:pPr indent="-34607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 sz="2000">
                <a:highlight>
                  <a:srgbClr val="F8F9FA"/>
                </a:highlight>
              </a:rPr>
              <a:t>Moguća rešenja:</a:t>
            </a:r>
            <a:endParaRPr sz="2000">
              <a:highlight>
                <a:srgbClr val="F8F9FA"/>
              </a:highlight>
            </a:endParaRPr>
          </a:p>
          <a:p>
            <a:pPr indent="-32258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 sz="1600">
                <a:highlight>
                  <a:srgbClr val="F8F9FA"/>
                </a:highlight>
              </a:rPr>
              <a:t>Ključevi šifrirani lozinkom</a:t>
            </a:r>
            <a:endParaRPr sz="1600">
              <a:highlight>
                <a:srgbClr val="F8F9FA"/>
              </a:highlight>
            </a:endParaRPr>
          </a:p>
          <a:p>
            <a:pPr indent="-35782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7500"/>
              <a:buChar char="-"/>
            </a:pPr>
            <a:r>
              <a:rPr lang="en-GB" sz="1600">
                <a:highlight>
                  <a:srgbClr val="F8F9FA"/>
                </a:highlight>
              </a:rPr>
              <a:t>Čuvati ključ na korisničkom uređaju</a:t>
            </a:r>
            <a:endParaRPr sz="1600">
              <a:highlight>
                <a:srgbClr val="F8F9FA"/>
              </a:highlight>
            </a:endParaRPr>
          </a:p>
          <a:p>
            <a:pPr indent="-32258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 sz="1600">
                <a:highlight>
                  <a:srgbClr val="F8F9FA"/>
                </a:highlight>
              </a:rPr>
              <a:t>Google usluga upravljanja ključevima (KMS) za šifrovanje ključeva</a:t>
            </a:r>
            <a:endParaRPr sz="1600">
              <a:highlight>
                <a:srgbClr val="F8F9FA"/>
              </a:highlight>
            </a:endParaRPr>
          </a:p>
          <a:p>
            <a:pPr indent="-32258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 sz="1600">
                <a:highlight>
                  <a:srgbClr val="F8F9FA"/>
                </a:highlight>
              </a:rPr>
              <a:t>Skrivanje ključa na korisnikovom Google nalogu</a:t>
            </a:r>
            <a:endParaRPr sz="1600">
              <a:highlight>
                <a:srgbClr val="F8F9FA"/>
              </a:highlight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8F9FA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71975" y="2208750"/>
            <a:ext cx="8520600" cy="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000"/>
              <a:t>Hvala na pažnji!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